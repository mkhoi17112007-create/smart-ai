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97280"/>
            <a:ext cx="10332720" cy="4114800"/>
          </a:xfrm>
          <a:prstGeom prst="rect">
            <a:avLst/>
          </a:prstGeom>
          <a:noFill/>
        </p:spPr>
        <p:txBody>
          <a:bodyPr wrap="square">
            <a:spAutoFit/>
          </a:bodyPr>
          <a:lstStyle/>
          <a:p>
            <a:pPr>
              <a:defRPr sz="1400" b="1">
                <a:solidFill>
                  <a:srgbClr val="E67E22"/>
                </a:solidFill>
              </a:defRPr>
            </a:pPr>
            <a:r>
              <a:t>TRƯỜNG CAO ĐẲNG FPT POLYTECHNIC — KHOA CNTT</a:t>
            </a:r>
          </a:p>
          <a:p>
            <a:pPr>
              <a:spcBef>
                <a:spcPts val="1200"/>
              </a:spcBef>
              <a:defRPr sz="2800" b="1">
                <a:solidFill>
                  <a:srgbClr val="1B365D"/>
                </a:solidFill>
              </a:defRPr>
            </a:pPr>
            <a:r>
              <a:t>SMARTEDU AI — BÁO CÁO TỔNG KẾT BẢO VỆ ĐỒ ÁN</a:t>
            </a:r>
          </a:p>
          <a:p>
            <a:pPr>
              <a:spcBef>
                <a:spcPts val="800"/>
              </a:spcBef>
              <a:defRPr sz="1600" i="1">
                <a:solidFill>
                  <a:srgbClr val="34495E"/>
                </a:solidFill>
              </a:defRPr>
            </a:pPr>
            <a:r>
              <a:t>Hệ thống Phân tích Học tập, Dự báo Sinh viên Nguy cơ &amp; Tối ưu hóa Can thiệp Giáo dục</a:t>
            </a:r>
            <a:br/>
            <a:r>
              <a:t>Nền tảng Toán học cho Học máy (ITA201 — Toàn diện Giai đoạn 1 &amp; 2)</a:t>
            </a:r>
          </a:p>
          <a:p>
            <a:pPr>
              <a:spcBef>
                <a:spcPts val="2400"/>
              </a:spcBef>
              <a:defRPr sz="1400" b="1">
                <a:solidFill>
                  <a:srgbClr val="2C3E50"/>
                </a:solidFill>
              </a:defRPr>
            </a:pPr>
            <a:r>
              <a:t>NHÓM THỰC HIỆN:</a:t>
            </a:r>
            <a:br/>
            <a:r>
              <a:t>• Trưởng nhóm: Nguyễn Thanh Hoài — PS47905</a:t>
            </a:r>
            <a:br/>
            <a:r>
              <a:t>• Thành viên: Nguyễn Duy Liêm (PS47845) | Nguyễn Minh Khôi (PS48256) | Vũ Quang Khải (PS48224)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1. Bối cảnh &amp; Bài toán Thực tiễn trong Quản trị Đào tạo</a:t>
            </a:r>
          </a:p>
        </p:txBody>
      </p:sp>
      <p:sp>
        <p:nvSpPr>
          <p:cNvPr id="4" name="TextBox 3"/>
          <p:cNvSpPr txBox="1"/>
          <p:nvPr/>
        </p:nvSpPr>
        <p:spPr>
          <a:xfrm>
            <a:off x="731520" y="1463040"/>
            <a:ext cx="10515600" cy="4572000"/>
          </a:xfrm>
          <a:prstGeom prst="rect">
            <a:avLst/>
          </a:prstGeom>
          <a:noFill/>
        </p:spPr>
        <p:txBody>
          <a:bodyPr wrap="square">
            <a:spAutoFit/>
          </a:bodyPr>
          <a:lstStyle/>
          <a:p/>
          <a:p>
            <a:pPr>
              <a:spcAft>
                <a:spcPts val="1400"/>
              </a:spcAft>
              <a:defRPr sz="1500"/>
            </a:pPr>
            <a:r>
              <a:t>• Vấn đề đào tạo tín chỉ &amp; Blended Learning: Tỷ lệ sinh viên nợ môn, trượt đồ án và bỏ học tích lũy âm thầm nếu không được phát hiện từ sớm.</a:t>
            </a:r>
          </a:p>
          <a:p>
            <a:pPr>
              <a:spcAft>
                <a:spcPts val="1400"/>
              </a:spcAft>
              <a:defRPr sz="1500"/>
            </a:pPr>
            <a:r>
              <a:t>• Hạn chế của phương pháp truyền thống: Giảng viên chỉ nắm điểm số vào cuối kỳ, thiếu công cụ định lượng nguy cơ và phân bổ phụ đạo dựa trên cảm tính.</a:t>
            </a:r>
          </a:p>
          <a:p>
            <a:pPr>
              <a:spcAft>
                <a:spcPts val="1400"/>
              </a:spcAft>
              <a:defRPr sz="1500"/>
            </a:pPr>
            <a:r>
              <a:t>• Giải pháp SmartEdu AI: Xây dựng hệ sinh thái khép kín từ Dữ liệu -&gt; Toán học học máy -&gt; Cảnh báo sớm -&gt; Tối ưu hóa can thiệp.</a:t>
            </a:r>
          </a:p>
          <a:p>
            <a:pPr>
              <a:spcAft>
                <a:spcPts val="1400"/>
              </a:spcAft>
              <a:defRPr sz="1500"/>
            </a:pPr>
            <a:r>
              <a:t>• Quy mô khảo sát: 4.424 sinh viên chuẩn hóa từ Kaggle, 1.128 sinh viên trong mạng lưới tương tác xã hội học tập, 5 chuyên môn mentor phụ đạo.</a:t>
            </a:r>
          </a:p>
          <a:p>
            <a:pPr>
              <a:spcAft>
                <a:spcPts val="1400"/>
              </a:spcAft>
              <a:defRPr sz="1500"/>
            </a:pPr>
            <a:r>
              <a:t>• Mục tiêu cốt lõi: Kết hợp tính chính xác toán học (Explainable AI) với hiệu quả can thiệp thực tế tại FPT Polytechnic.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2. Kiến trúc Tổng thể 5 Phân hệ Toán học SmartEdu AI</a:t>
            </a:r>
          </a:p>
        </p:txBody>
      </p:sp>
      <p:sp>
        <p:nvSpPr>
          <p:cNvPr id="4" name="TextBox 3"/>
          <p:cNvSpPr txBox="1"/>
          <p:nvPr/>
        </p:nvSpPr>
        <p:spPr>
          <a:xfrm>
            <a:off x="731520" y="1463040"/>
            <a:ext cx="10515600" cy="4572000"/>
          </a:xfrm>
          <a:prstGeom prst="rect">
            <a:avLst/>
          </a:prstGeom>
          <a:noFill/>
        </p:spPr>
        <p:txBody>
          <a:bodyPr wrap="square">
            <a:spAutoFit/>
          </a:bodyPr>
          <a:lstStyle/>
          <a:p/>
          <a:p>
            <a:pPr>
              <a:spcAft>
                <a:spcPts val="1200"/>
              </a:spcAft>
              <a:defRPr sz="1450"/>
            </a:pPr>
            <a:r>
              <a:t>• Phần A - Đại số tuyến tính &amp; Tổ hợp: Làm sạch Median, chuẩn hóa StandardScaler, s = Xw, khoảng cách L1/L2, tổ hợp C(8, 3) = 56 và Grid Search 336 mô hình.</a:t>
            </a:r>
          </a:p>
          <a:p>
            <a:pPr>
              <a:spcAft>
                <a:spcPts val="1200"/>
              </a:spcAft>
              <a:defRPr sz="1450"/>
            </a:pPr>
            <a:r>
              <a:t>• Phần B - PCA &amp; Cây quyết định: Ma trận tương quan Pearson, giảm chiều trực giao từ 8 xuống 4 thành phần chính (bảo toàn 80.19% phương sai), F1-Score đạt 78.06%.</a:t>
            </a:r>
          </a:p>
          <a:p>
            <a:pPr>
              <a:spcAft>
                <a:spcPts val="1200"/>
              </a:spcAft>
              <a:defRPr sz="1450"/>
            </a:pPr>
            <a:r>
              <a:t>• Phần C - Xác suất Bayes &amp; Entropy: Xác suất có điều kiện hai chiều, kiểm chứng Bayes (vắng học -&gt; 91.32% rớt môn), GaussianNB (Precision 86.38%), Information Gain chọn lọc đặc trưng.</a:t>
            </a:r>
          </a:p>
          <a:p>
            <a:pPr>
              <a:spcAft>
                <a:spcPts val="1200"/>
              </a:spcAft>
              <a:defRPr sz="1450"/>
            </a:pPr>
            <a:r>
              <a:t>• Phần D - Lý thuyết Đồ thị &amp; Markov: Mạng lưới 1.128 đỉnh và 1.500 cạnh, duyệt BFS/DFS, khảo sát WCC/SCC, mô hình hóa chuyển dịch hành vi Markov qua 20 bước với phân phối dừng dài hạn.</a:t>
            </a:r>
          </a:p>
          <a:p>
            <a:pPr>
              <a:spcAft>
                <a:spcPts val="1200"/>
              </a:spcAft>
              <a:defRPr sz="1450"/>
            </a:pPr>
            <a:r>
              <a:t>• Phần E - Tối ưu hóa nguồn lực can thiệp: Quy hoạch số nguyên nhị phân PuLP BIP (Z* = 184.0, hỗ trợ 12/12 SV nguy cơ) và Mạng luồng cực đại Bipartite Max-Flow ghép cặp hoàn hảo.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3. Phần A: Đại số tuyến tính, Điểm rủi ro s = Xw &amp; Khoảng cách L1/L2</a:t>
            </a:r>
          </a:p>
        </p:txBody>
      </p:sp>
      <p:sp>
        <p:nvSpPr>
          <p:cNvPr id="4" name="TextBox 3"/>
          <p:cNvSpPr txBox="1"/>
          <p:nvPr/>
        </p:nvSpPr>
        <p:spPr>
          <a:xfrm>
            <a:off x="731520" y="1463040"/>
            <a:ext cx="10515600" cy="4572000"/>
          </a:xfrm>
          <a:prstGeom prst="rect">
            <a:avLst/>
          </a:prstGeom>
          <a:noFill/>
        </p:spPr>
        <p:txBody>
          <a:bodyPr wrap="square">
            <a:spAutoFit/>
          </a:bodyPr>
          <a:lstStyle/>
          <a:p/>
          <a:p>
            <a:pPr>
              <a:spcAft>
                <a:spcPts val="600"/>
              </a:spcAft>
              <a:defRPr sz="1350"/>
            </a:pPr>
            <a:r>
              <a:t>Biểu diễn dữ liệu: Ma trận đặc trưng X (4.424 x 8) và vector nhãn y (4.424 x 1). Làm sạch missing bằng Median và Ordinal Encoding.</a:t>
            </a:r>
          </a:p>
          <a:p>
            <a:pPr>
              <a:spcAft>
                <a:spcPts val="600"/>
              </a:spcAft>
              <a:defRPr sz="1350"/>
            </a:pPr>
            <a:r>
              <a:t>Công thức điểm rủi ro tuyến tính: s = X * w (với w = [0.25, 0.30, 0.25, -0.20, -0.15, 0.40, -0.10, -0.30]^T).</a:t>
            </a:r>
          </a:p>
          <a:p>
            <a:pPr>
              <a:spcAft>
                <a:spcPts val="600"/>
              </a:spcAft>
              <a:defRPr sz="1350"/>
            </a:pPr>
            <a:r>
              <a:t>Đối chiếu tính tay cụ thể từng bước:</a:t>
            </a:r>
          </a:p>
          <a:p>
            <a:pPr>
              <a:spcAft>
                <a:spcPts val="600"/>
              </a:spcAft>
              <a:defRPr sz="1350"/>
            </a:pPr>
            <a:r>
              <a:t>  - Sinh viên SV0001: s1 = 0.5(0.25) + 2.0(0.30) + 0(0.25) + 0(-0.20) + 9.1(-0.15) + 0(0.40) + 5(-0.10) + 1(-0.30) = -1.4400 (Trùng khớp 100% code).</a:t>
            </a:r>
          </a:p>
          <a:p>
            <a:pPr>
              <a:spcAft>
                <a:spcPts val="600"/>
              </a:spcAft>
              <a:defRPr sz="1350"/>
            </a:pPr>
            <a:r>
              <a:t>  - Sinh viên SV0002: s2 = 0.6(0.25) + 2.0(0.30) + 7.0(0.25) + 6.8(-0.20) + 8.6(-0.15) + 0(0.40) + 17(-0.10) + 1(-0.30) = -2.1500.</a:t>
            </a:r>
          </a:p>
          <a:p>
            <a:pPr>
              <a:spcAft>
                <a:spcPts val="600"/>
              </a:spcAft>
              <a:defRPr sz="1350"/>
            </a:pPr>
            <a:r>
              <a:t>Chuẩn hóa StandardScaler và Đo khoảng cách hình học:</a:t>
            </a:r>
          </a:p>
          <a:p>
            <a:pPr>
              <a:spcAft>
                <a:spcPts val="600"/>
              </a:spcAft>
              <a:defRPr sz="1350"/>
            </a:pPr>
            <a:r>
              <a:t>  - Khoảng cách Manhattan (L1 norm): D_L1(z1, z2) = 7.6448 (Phản ánh tổng độ lệch tuyệt đối giữa 2 hồ sơ học tập).</a:t>
            </a:r>
          </a:p>
          <a:p>
            <a:pPr>
              <a:spcAft>
                <a:spcPts val="600"/>
              </a:spcAft>
              <a:defRPr sz="1350"/>
            </a:pPr>
            <a:r>
              <a:t>  - Khoảng cách Euclidean (L2 norm): D_L2(z1, z2) = 4.1856 (Khoảng cách không gian đa chiều, làm tiền đề phân cụm K-Means).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4. Phần B: Phân tích Thành phần chính (PCA) &amp; Giảm chiều dữ liệu</a:t>
            </a:r>
          </a:p>
        </p:txBody>
      </p:sp>
      <p:sp>
        <p:nvSpPr>
          <p:cNvPr id="4" name="TextBox 3"/>
          <p:cNvSpPr txBox="1"/>
          <p:nvPr/>
        </p:nvSpPr>
        <p:spPr>
          <a:xfrm>
            <a:off x="731520" y="1463040"/>
            <a:ext cx="5486400" cy="4572000"/>
          </a:xfrm>
          <a:prstGeom prst="rect">
            <a:avLst/>
          </a:prstGeom>
          <a:noFill/>
        </p:spPr>
        <p:txBody>
          <a:bodyPr wrap="square">
            <a:spAutoFit/>
          </a:bodyPr>
          <a:lstStyle/>
          <a:p/>
          <a:p>
            <a:pPr>
              <a:spcAft>
                <a:spcPts val="600"/>
              </a:spcAft>
              <a:defRPr sz="1250"/>
            </a:pPr>
            <a:r>
              <a:t>Phát hiện Đa cộng tuyến: Cặp Lab - Assignment đạt r = 0.68, Chuyên cần - Nguy cơ r = -0.58. Dữ liệu chứa nhiều thông tin dư thừa tuyến tính.</a:t>
            </a:r>
          </a:p>
          <a:p>
            <a:pPr>
              <a:spcAft>
                <a:spcPts val="600"/>
              </a:spcAft>
              <a:defRPr sz="1250"/>
            </a:pPr>
            <a:r>
              <a:t>Thuật toán PCA: Giải bài toán trị riêng ma trận hiệp phương sai trực giao.</a:t>
            </a:r>
          </a:p>
          <a:p>
            <a:pPr>
              <a:spcAft>
                <a:spcPts val="600"/>
              </a:spcAft>
              <a:defRPr sz="1250"/>
            </a:pPr>
            <a:r>
              <a:t>Tỷ lệ phương sai tích lũy của các thành phần:</a:t>
            </a:r>
          </a:p>
          <a:p>
            <a:pPr>
              <a:spcAft>
                <a:spcPts val="600"/>
              </a:spcAft>
              <a:defRPr sz="1250"/>
            </a:pPr>
            <a:r>
              <a:t>  - PC1: 32.45% | PC2: 19.82% | PC3: 15.12% | PC4: 12.80%</a:t>
            </a:r>
          </a:p>
          <a:p>
            <a:pPr>
              <a:spcAft>
                <a:spcPts val="600"/>
              </a:spcAft>
              <a:defRPr sz="1250"/>
            </a:pPr>
            <a:r>
              <a:t>  - Tổng 4 PCs đầu: 80.19% (Đạt ngưỡng kỹ thuật &gt;= 80%).</a:t>
            </a:r>
          </a:p>
          <a:p>
            <a:pPr>
              <a:spcAft>
                <a:spcPts val="600"/>
              </a:spcAft>
              <a:defRPr sz="1250"/>
            </a:pPr>
            <a:r>
              <a:t>Hiệu năng Cây quyết định Trước vs Sau PCA:</a:t>
            </a:r>
          </a:p>
          <a:p>
            <a:pPr>
              <a:spcAft>
                <a:spcPts val="600"/>
              </a:spcAft>
              <a:defRPr sz="1250"/>
            </a:pPr>
            <a:r>
              <a:t>  - Trước PCA (8 chiều): Accuracy 79.89%, F1-Score 80.05%.</a:t>
            </a:r>
          </a:p>
          <a:p>
            <a:pPr>
              <a:spcAft>
                <a:spcPts val="600"/>
              </a:spcAft>
              <a:defRPr sz="1250"/>
            </a:pPr>
            <a:r>
              <a:t>  - Sau PCA (4 chiều): Accuracy 77.97%, F1-Score 78.06%.</a:t>
            </a:r>
          </a:p>
          <a:p>
            <a:pPr>
              <a:spcAft>
                <a:spcPts val="600"/>
              </a:spcAft>
              <a:defRPr sz="1250"/>
            </a:pPr>
            <a:r>
              <a:t>Kết luận: Giảm 50% số chiều dữ liệu nhưng hiệu năng F1 chỉ suy giảm 1.99%, tối ưu hóa tốc độ huấn luyện và bộ nhớ.</a:t>
            </a:r>
          </a:p>
        </p:txBody>
      </p:sp>
      <p:pic>
        <p:nvPicPr>
          <p:cNvPr id="5" name="Picture 4" descr="correlation_heatmap.png"/>
          <p:cNvPicPr>
            <a:picLocks noChangeAspect="1"/>
          </p:cNvPicPr>
          <p:nvPr/>
        </p:nvPicPr>
        <p:blipFill>
          <a:blip r:embed="rId2"/>
          <a:stretch>
            <a:fillRect/>
          </a:stretch>
        </p:blipFill>
        <p:spPr>
          <a:xfrm>
            <a:off x="6583680" y="1463040"/>
            <a:ext cx="4846320" cy="38770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5. Phần C: Xác suất có điều kiện, Định lý Bayes &amp; Gaussian Naive Bayes</a:t>
            </a:r>
          </a:p>
        </p:txBody>
      </p:sp>
      <p:sp>
        <p:nvSpPr>
          <p:cNvPr id="4" name="TextBox 3"/>
          <p:cNvSpPr txBox="1"/>
          <p:nvPr/>
        </p:nvSpPr>
        <p:spPr>
          <a:xfrm>
            <a:off x="731520" y="1463040"/>
            <a:ext cx="5669280" cy="4572000"/>
          </a:xfrm>
          <a:prstGeom prst="rect">
            <a:avLst/>
          </a:prstGeom>
          <a:noFill/>
        </p:spPr>
        <p:txBody>
          <a:bodyPr wrap="square">
            <a:spAutoFit/>
          </a:bodyPr>
          <a:lstStyle/>
          <a:p/>
          <a:p>
            <a:pPr>
              <a:spcAft>
                <a:spcPts val="600"/>
              </a:spcAft>
              <a:defRPr sz="1300"/>
            </a:pPr>
            <a:r>
              <a:t>Bảng xác suất có điều kiện hai chiều:</a:t>
            </a:r>
          </a:p>
          <a:p>
            <a:pPr>
              <a:spcAft>
                <a:spcPts val="600"/>
              </a:spcAft>
              <a:defRPr sz="1300"/>
            </a:pPr>
            <a:r>
              <a:t>  - P(high_risk | att_low) = 91.32% vs P(att_low | high_risk) = 56.98%.</a:t>
            </a:r>
          </a:p>
          <a:p>
            <a:pPr>
              <a:spcAft>
                <a:spcPts val="600"/>
              </a:spcAft>
              <a:defRPr sz="1300"/>
            </a:pPr>
            <a:r>
              <a:t>Kiểm chứng định lý Bayes tính tay:</a:t>
            </a:r>
          </a:p>
          <a:p>
            <a:pPr>
              <a:spcAft>
                <a:spcPts val="600"/>
              </a:spcAft>
              <a:defRPr sz="1300"/>
            </a:pPr>
            <a:r>
              <a:t>  P(high | att_low) = [P(att_low | high) * P(high)] / P(att_low)</a:t>
            </a:r>
          </a:p>
          <a:p>
            <a:pPr>
              <a:spcAft>
                <a:spcPts val="600"/>
              </a:spcAft>
              <a:defRPr sz="1300"/>
            </a:pPr>
            <a:r>
              <a:t>                    = [0.5698 * 0.5007] / 0.3124 = 91.32% (Trùng khớp tuyệt đối).</a:t>
            </a:r>
          </a:p>
          <a:p>
            <a:pPr>
              <a:spcAft>
                <a:spcPts val="600"/>
              </a:spcAft>
              <a:defRPr sz="1300"/>
            </a:pPr>
            <a:r>
              <a:t>  Ý nghĩa: Vắng học quá quy định đẩy nguy cơ rớt môn lên tới 91.32%!</a:t>
            </a:r>
          </a:p>
          <a:p>
            <a:pPr>
              <a:spcAft>
                <a:spcPts val="600"/>
              </a:spcAft>
              <a:defRPr sz="1300"/>
            </a:pPr>
            <a:r>
              <a:t>Mô hình phân loại Gaussian Naive Bayes:</a:t>
            </a:r>
          </a:p>
          <a:p>
            <a:pPr>
              <a:spcAft>
                <a:spcPts val="600"/>
              </a:spcAft>
              <a:defRPr sz="1300"/>
            </a:pPr>
            <a:r>
              <a:t>  - Accuracy: 74.69% | Precision: 86.38% | F1-Score: 69.89%.</a:t>
            </a:r>
          </a:p>
          <a:p>
            <a:pPr>
              <a:spcAft>
                <a:spcPts val="600"/>
              </a:spcAft>
              <a:defRPr sz="1300"/>
            </a:pPr>
            <a:r>
              <a:t>  - Dự báo SV0001: P(high_risk | X) ~ 1.0000 do điểm Lab = 0 và vắng học nhiều.</a:t>
            </a:r>
          </a:p>
        </p:txBody>
      </p:sp>
      <p:pic>
        <p:nvPicPr>
          <p:cNvPr id="5" name="Picture 4" descr="gnb_confusion_matrix.png"/>
          <p:cNvPicPr>
            <a:picLocks noChangeAspect="1"/>
          </p:cNvPicPr>
          <p:nvPr/>
        </p:nvPicPr>
        <p:blipFill>
          <a:blip r:embed="rId2"/>
          <a:stretch>
            <a:fillRect/>
          </a:stretch>
        </p:blipFill>
        <p:spPr>
          <a:xfrm>
            <a:off x="6675120" y="1463040"/>
            <a:ext cx="4754880" cy="3962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6. Phần C: Lý thuyết Thông tin — Shannon Entropy &amp; Information Gain</a:t>
            </a:r>
          </a:p>
        </p:txBody>
      </p:sp>
      <p:sp>
        <p:nvSpPr>
          <p:cNvPr id="4" name="TextBox 3"/>
          <p:cNvSpPr txBox="1"/>
          <p:nvPr/>
        </p:nvSpPr>
        <p:spPr>
          <a:xfrm>
            <a:off x="731520" y="1463040"/>
            <a:ext cx="5669280" cy="4572000"/>
          </a:xfrm>
          <a:prstGeom prst="rect">
            <a:avLst/>
          </a:prstGeom>
          <a:noFill/>
        </p:spPr>
        <p:txBody>
          <a:bodyPr wrap="square">
            <a:spAutoFit/>
          </a:bodyPr>
          <a:lstStyle/>
          <a:p/>
          <a:p>
            <a:pPr>
              <a:spcAft>
                <a:spcPts val="600"/>
              </a:spcAft>
              <a:defRPr sz="1250"/>
            </a:pPr>
            <a:r>
              <a:t>Đo lường độ bất định thông tin của nhãn rủi ro:</a:t>
            </a:r>
          </a:p>
          <a:p>
            <a:pPr>
              <a:spcAft>
                <a:spcPts val="600"/>
              </a:spcAft>
              <a:defRPr sz="1250"/>
            </a:pPr>
            <a:r>
              <a:t>  H(S) = - [0.4993 log2(0.4993) + 0.5007 log2(0.5007)] = 1.0000 bit (Bất định tối đa).</a:t>
            </a:r>
          </a:p>
          <a:p>
            <a:pPr>
              <a:spcAft>
                <a:spcPts val="600"/>
              </a:spcAft>
              <a:defRPr sz="1250"/>
            </a:pPr>
            <a:r>
              <a:t>Tính tay Entropy có điều kiện H(S | attendance_bin):</a:t>
            </a:r>
          </a:p>
          <a:p>
            <a:pPr>
              <a:spcAft>
                <a:spcPts val="600"/>
              </a:spcAft>
              <a:defRPr sz="1250"/>
            </a:pPr>
            <a:r>
              <a:t>  - Nhóm att_low: H(S1) = 0.4258 bit (tỷ trọng 0.3124).</a:t>
            </a:r>
          </a:p>
          <a:p>
            <a:pPr>
              <a:spcAft>
                <a:spcPts val="600"/>
              </a:spcAft>
              <a:defRPr sz="1250"/>
            </a:pPr>
            <a:r>
              <a:t>  - Nhóm att_med: H(S2) = 0.9627 bit (tỷ trọng 0.2098).</a:t>
            </a:r>
          </a:p>
          <a:p>
            <a:pPr>
              <a:spcAft>
                <a:spcPts val="600"/>
              </a:spcAft>
              <a:defRPr sz="1250"/>
            </a:pPr>
            <a:r>
              <a:t>  - Nhóm att_high: H(S3) = 0.6837 bit (tỷ trọng 0.4778).</a:t>
            </a:r>
          </a:p>
          <a:p>
            <a:pPr>
              <a:spcAft>
                <a:spcPts val="600"/>
              </a:spcAft>
              <a:defRPr sz="1250"/>
            </a:pPr>
            <a:r>
              <a:t>  -&gt; H(S | attendance) = 0.6617 bit.</a:t>
            </a:r>
          </a:p>
          <a:p>
            <a:pPr>
              <a:spcAft>
                <a:spcPts val="600"/>
              </a:spcAft>
              <a:defRPr sz="1250"/>
            </a:pPr>
            <a:r>
              <a:t>Độ tăng thông tin: IG = 1.0000 - 0.6617 = 0.3383 bit (Đứng đầu bảng).</a:t>
            </a:r>
          </a:p>
          <a:p>
            <a:pPr>
              <a:spcAft>
                <a:spcPts val="600"/>
              </a:spcAft>
              <a:defRPr sz="1250"/>
            </a:pPr>
            <a:r>
              <a:t>Xếp hạng: attendance (0.3383) &gt; assignment (0.1672) &gt; lab (0.1203) &gt; quiz (0.0057).</a:t>
            </a:r>
          </a:p>
          <a:p>
            <a:pPr>
              <a:spcAft>
                <a:spcPts val="600"/>
              </a:spcAft>
              <a:defRPr sz="1250"/>
            </a:pPr>
            <a:r>
              <a:t>Ý nghĩa: Giải thích toán học vì sao Cây quyết định luôn chọn tiêu chí chuyên cần làm gốc phân loại.</a:t>
            </a:r>
          </a:p>
        </p:txBody>
      </p:sp>
      <p:pic>
        <p:nvPicPr>
          <p:cNvPr id="5" name="Picture 4" descr="information_gain_ranking.png"/>
          <p:cNvPicPr>
            <a:picLocks noChangeAspect="1"/>
          </p:cNvPicPr>
          <p:nvPr/>
        </p:nvPicPr>
        <p:blipFill>
          <a:blip r:embed="rId2"/>
          <a:stretch>
            <a:fillRect/>
          </a:stretch>
        </p:blipFill>
        <p:spPr>
          <a:xfrm>
            <a:off x="6675120" y="1463040"/>
            <a:ext cx="4754880" cy="2971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7. Phần D: Lý thuyết Đồ thị — Mạng lưới Tương tác Sinh viên</a:t>
            </a:r>
          </a:p>
        </p:txBody>
      </p:sp>
      <p:sp>
        <p:nvSpPr>
          <p:cNvPr id="4" name="TextBox 3"/>
          <p:cNvSpPr txBox="1"/>
          <p:nvPr/>
        </p:nvSpPr>
        <p:spPr>
          <a:xfrm>
            <a:off x="731520" y="1463040"/>
            <a:ext cx="5669280" cy="4572000"/>
          </a:xfrm>
          <a:prstGeom prst="rect">
            <a:avLst/>
          </a:prstGeom>
          <a:noFill/>
        </p:spPr>
        <p:txBody>
          <a:bodyPr wrap="square">
            <a:spAutoFit/>
          </a:bodyPr>
          <a:lstStyle/>
          <a:p/>
          <a:p>
            <a:pPr>
              <a:spcAft>
                <a:spcPts val="600"/>
              </a:spcAft>
              <a:defRPr sz="1250"/>
            </a:pPr>
            <a:r>
              <a:t>Mô hình hóa Đồ thị có hướng G = (V, E):</a:t>
            </a:r>
          </a:p>
          <a:p>
            <a:pPr>
              <a:spcAft>
                <a:spcPts val="600"/>
              </a:spcAft>
              <a:defRPr sz="1250"/>
            </a:pPr>
            <a:r>
              <a:t>  - Số đỉnh |V|: 1.128 sinh viên tham gia tương tác trao đổi bài.</a:t>
            </a:r>
          </a:p>
          <a:p>
            <a:pPr>
              <a:spcAft>
                <a:spcPts val="600"/>
              </a:spcAft>
              <a:defRPr sz="1250"/>
            </a:pPr>
            <a:r>
              <a:t>  - Số cạnh |E|: 1.500 mối liên kết có hướng (hỏi bài / làm việc nhóm).</a:t>
            </a:r>
          </a:p>
          <a:p>
            <a:pPr>
              <a:spcAft>
                <a:spcPts val="600"/>
              </a:spcAft>
              <a:defRPr sz="1250"/>
            </a:pPr>
            <a:r>
              <a:t>Thuật toán duyệt đồ thị BFS &amp; DFS từ gốc SV0030:</a:t>
            </a:r>
          </a:p>
          <a:p>
            <a:pPr>
              <a:spcAft>
                <a:spcPts val="600"/>
              </a:spcAft>
              <a:defRPr sz="1250"/>
            </a:pPr>
            <a:r>
              <a:t>  - Cả 2 thuật toán đều tiếp cận được 113 sinh viên.</a:t>
            </a:r>
          </a:p>
          <a:p>
            <a:pPr>
              <a:spcAft>
                <a:spcPts val="600"/>
              </a:spcAft>
              <a:defRPr sz="1250"/>
            </a:pPr>
            <a:r>
              <a:t>  - BFS: Tìm đường truyền thông tin ngắn nhất qua Queue FIFO.</a:t>
            </a:r>
          </a:p>
          <a:p>
            <a:pPr>
              <a:spcAft>
                <a:spcPts val="600"/>
              </a:spcAft>
              <a:defRPr sz="1250"/>
            </a:pPr>
            <a:r>
              <a:t>  - DFS: Khám phá chu trình trao đổi sâu qua Stack/Đệ quy.</a:t>
            </a:r>
          </a:p>
          <a:p>
            <a:pPr>
              <a:spcAft>
                <a:spcPts val="600"/>
              </a:spcAft>
              <a:defRPr sz="1250"/>
            </a:pPr>
            <a:r>
              <a:t>Phân tích tính liên thông mạng lưới:</a:t>
            </a:r>
          </a:p>
          <a:p>
            <a:pPr>
              <a:spcAft>
                <a:spcPts val="600"/>
              </a:spcAft>
              <a:defRPr sz="1250"/>
            </a:pPr>
            <a:r>
              <a:t>  - 430 thành phần liên thông yếu (WCC) — Cụm lớn nhất 435 sinh viên.</a:t>
            </a:r>
          </a:p>
          <a:p>
            <a:pPr>
              <a:spcAft>
                <a:spcPts val="600"/>
              </a:spcAft>
              <a:defRPr sz="1250"/>
            </a:pPr>
            <a:r>
              <a:t>  - 1.029 thành phần liên thông mạnh (SCC) — Nhóm tương tác hai chiều lớn nhất 10 sinh viên.</a:t>
            </a:r>
          </a:p>
          <a:p>
            <a:pPr>
              <a:spcAft>
                <a:spcPts val="600"/>
              </a:spcAft>
              <a:defRPr sz="1250"/>
            </a:pPr>
            <a:r>
              <a:t>Cảnh báo sinh viên cô lập (Isolates): In-degree = Out-degree = 0, cần giảng viên chủ động kết nối vào nhóm.</a:t>
            </a:r>
          </a:p>
        </p:txBody>
      </p:sp>
      <p:pic>
        <p:nvPicPr>
          <p:cNvPr id="5" name="Picture 4" descr="student_interaction_graph.png"/>
          <p:cNvPicPr>
            <a:picLocks noChangeAspect="1"/>
          </p:cNvPicPr>
          <p:nvPr/>
        </p:nvPicPr>
        <p:blipFill>
          <a:blip r:embed="rId2"/>
          <a:stretch>
            <a:fillRect/>
          </a:stretch>
        </p:blipFill>
        <p:spPr>
          <a:xfrm>
            <a:off x="6675120" y="1463040"/>
            <a:ext cx="4754880" cy="3698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8. Phần D: Chuỗi Markov — Mô hình Hóa Chuyển dịch Trạng thái Học tập</a:t>
            </a:r>
          </a:p>
        </p:txBody>
      </p:sp>
      <p:sp>
        <p:nvSpPr>
          <p:cNvPr id="4" name="TextBox 3"/>
          <p:cNvSpPr txBox="1"/>
          <p:nvPr/>
        </p:nvSpPr>
        <p:spPr>
          <a:xfrm>
            <a:off x="731520" y="1463040"/>
            <a:ext cx="5669280" cy="4572000"/>
          </a:xfrm>
          <a:prstGeom prst="rect">
            <a:avLst/>
          </a:prstGeom>
          <a:noFill/>
        </p:spPr>
        <p:txBody>
          <a:bodyPr wrap="square">
            <a:spAutoFit/>
          </a:bodyPr>
          <a:lstStyle/>
          <a:p/>
          <a:p>
            <a:pPr>
              <a:spcAft>
                <a:spcPts val="600"/>
              </a:spcAft>
              <a:defRPr sz="1200"/>
            </a:pPr>
            <a:r>
              <a:t>Không gian 3 trạng thái: S = {Active, Moderate, At-risk}.</a:t>
            </a:r>
          </a:p>
          <a:p>
            <a:pPr>
              <a:spcAft>
                <a:spcPts val="600"/>
              </a:spcAft>
              <a:defRPr sz="1200"/>
            </a:pPr>
            <a:r>
              <a:t>Ma trận xác suất chuyển trạng thái P (3x3):</a:t>
            </a:r>
          </a:p>
          <a:p>
            <a:pPr>
              <a:spcAft>
                <a:spcPts val="600"/>
              </a:spcAft>
              <a:defRPr sz="1200"/>
            </a:pPr>
            <a:r>
              <a:t>  [[0.75, 0.20, 0.05], [0.20, 0.60, 0.20], [0.05, 0.25, 0.70]].</a:t>
            </a:r>
          </a:p>
          <a:p>
            <a:pPr>
              <a:spcAft>
                <a:spcPts val="600"/>
              </a:spcAft>
              <a:defRPr sz="1200"/>
            </a:pPr>
            <a:r>
              <a:t>Tính tay bước 1 phép nhân ma trận pi_1 = pi_0 * P (pi_0 = [0.70, 0.25, 0.05]):</a:t>
            </a:r>
          </a:p>
          <a:p>
            <a:pPr>
              <a:spcAft>
                <a:spcPts val="600"/>
              </a:spcAft>
              <a:defRPr sz="1200"/>
            </a:pPr>
            <a:r>
              <a:t>  - pi_1(Active) = 0.70(0.75) + 0.25(0.20) + 0.05(0.05) = 0.5775 (57.75%).</a:t>
            </a:r>
          </a:p>
          <a:p>
            <a:pPr>
              <a:spcAft>
                <a:spcPts val="600"/>
              </a:spcAft>
              <a:defRPr sz="1200"/>
            </a:pPr>
            <a:r>
              <a:t>  - pi_1(Moderate) = 0.70(0.20) + 0.25(0.60) + 0.05(0.25) = 0.3025 (30.25%).</a:t>
            </a:r>
          </a:p>
          <a:p>
            <a:pPr>
              <a:spcAft>
                <a:spcPts val="600"/>
              </a:spcAft>
              <a:defRPr sz="1200"/>
            </a:pPr>
            <a:r>
              <a:t>  - pi_1(At-risk) = 0.70(0.05) + 0.25(0.20) + 0.05(0.70) = 0.1200 (12.00%).</a:t>
            </a:r>
          </a:p>
          <a:p>
            <a:pPr>
              <a:spcAft>
                <a:spcPts val="600"/>
              </a:spcAft>
              <a:defRPr sz="1200"/>
            </a:pPr>
            <a:r>
              <a:t>  (Tổng xác suất = 1.0000, trùng khớp mô phỏng).</a:t>
            </a:r>
          </a:p>
          <a:p>
            <a:pPr>
              <a:spcAft>
                <a:spcPts val="600"/>
              </a:spcAft>
              <a:defRPr sz="1200"/>
            </a:pPr>
            <a:r>
              <a:t>Phân phối dừng dài hạn sau 20 bước (pi* P = pi*):</a:t>
            </a:r>
          </a:p>
          <a:p>
            <a:pPr>
              <a:spcAft>
                <a:spcPts val="600"/>
              </a:spcAft>
              <a:defRPr sz="1200"/>
            </a:pPr>
            <a:r>
              <a:t>  pi* = [34.57% Active, 35.80% Moderate, 29.63% At-risk].</a:t>
            </a:r>
          </a:p>
          <a:p>
            <a:pPr>
              <a:spcAft>
                <a:spcPts val="600"/>
              </a:spcAft>
              <a:defRPr sz="1200"/>
            </a:pPr>
            <a:r>
              <a:t>Kết luận: Nếu không can thiệp, gần 30% sinh viên sẽ trôi dạt vào vùng nguy cơ rớt môn thường trực!</a:t>
            </a:r>
          </a:p>
        </p:txBody>
      </p:sp>
      <p:pic>
        <p:nvPicPr>
          <p:cNvPr id="5" name="Picture 4" descr="markov_convergence.png"/>
          <p:cNvPicPr>
            <a:picLocks noChangeAspect="1"/>
          </p:cNvPicPr>
          <p:nvPr/>
        </p:nvPicPr>
        <p:blipFill>
          <a:blip r:embed="rId2"/>
          <a:stretch>
            <a:fillRect/>
          </a:stretch>
        </p:blipFill>
        <p:spPr>
          <a:xfrm>
            <a:off x="6675120" y="1463040"/>
            <a:ext cx="4754880" cy="2971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9. Phần E: Tối ưu hóa Can thiệp Giáo dục — PuLP BIP &amp; Max-Flow</a:t>
            </a:r>
          </a:p>
        </p:txBody>
      </p:sp>
      <p:sp>
        <p:nvSpPr>
          <p:cNvPr id="4" name="TextBox 3"/>
          <p:cNvSpPr txBox="1"/>
          <p:nvPr/>
        </p:nvSpPr>
        <p:spPr>
          <a:xfrm>
            <a:off x="731520" y="1463040"/>
            <a:ext cx="10515600" cy="4572000"/>
          </a:xfrm>
          <a:prstGeom prst="rect">
            <a:avLst/>
          </a:prstGeom>
          <a:noFill/>
        </p:spPr>
        <p:txBody>
          <a:bodyPr wrap="square">
            <a:spAutoFit/>
          </a:bodyPr>
          <a:lstStyle/>
          <a:p/>
          <a:p>
            <a:pPr>
              <a:spcAft>
                <a:spcPts val="800"/>
              </a:spcAft>
              <a:defRPr sz="1350"/>
            </a:pPr>
            <a:r>
              <a:t>1. Quy hoạch số nguyên nhị phân (PuLP BIP):</a:t>
            </a:r>
          </a:p>
          <a:p>
            <a:pPr>
              <a:spcAft>
                <a:spcPts val="800"/>
              </a:spcAft>
              <a:defRPr sz="1350"/>
            </a:pPr>
            <a:r>
              <a:t>  - Mục tiêu: Max Z = sum(c_ij * x_ij) với ràng buộc mỗi SV nhận tối đa 1 hỗ trợ và tổng ngân sách &lt;= 24 giờ.</a:t>
            </a:r>
          </a:p>
          <a:p>
            <a:pPr>
              <a:spcAft>
                <a:spcPts val="800"/>
              </a:spcAft>
              <a:defRPr sz="1350"/>
            </a:pPr>
            <a:r>
              <a:t>  - Kết quả tối ưu: Z* = 184.0, sử dụng 23/24 giờ ngân sách, can thiệp trọn vẹn 12 / 12 sinh viên nguy cơ cao nhất.</a:t>
            </a:r>
          </a:p>
          <a:p>
            <a:pPr>
              <a:spcAft>
                <a:spcPts val="800"/>
              </a:spcAft>
              <a:defRPr sz="1350"/>
            </a:pPr>
            <a:r>
              <a:t>  - Phân bổ: 1 SV kèm 1-1 (One-to-one: 4h, điểm 20.0), 8 SV kèm Lab (Lab tutoring: 16h, điểm 128.0), 3 SV Workshop (3h, điểm 36.0).</a:t>
            </a:r>
          </a:p>
          <a:p>
            <a:pPr>
              <a:spcAft>
                <a:spcPts val="800"/>
              </a:spcAft>
              <a:defRPr sz="1350"/>
            </a:pPr>
            <a:r>
              <a:t>2. Mạng luồng cực đại (Max-Flow) &amp; Ghép cặp Đồ thị hai phía:</a:t>
            </a:r>
          </a:p>
          <a:p>
            <a:pPr>
              <a:spcAft>
                <a:spcPts val="800"/>
              </a:spcAft>
              <a:defRPr sz="1350"/>
            </a:pPr>
            <a:r>
              <a:t>  - Xây dựng mạng luồng s -&gt; 10 Sinh viên -&gt; 5 Mentors -&gt; t với dung lượng tương thích chuyên môn và sức chứa.</a:t>
            </a:r>
          </a:p>
          <a:p>
            <a:pPr>
              <a:spcAft>
                <a:spcPts val="800"/>
              </a:spcAft>
              <a:defRPr sz="1350"/>
            </a:pPr>
            <a:r>
              <a:t>  - Giá trị Max-Flow = 10 (Ghép cặp thành công 10 / 10 sinh viên, đạt hiệu suất 100%).</a:t>
            </a:r>
          </a:p>
          <a:p>
            <a:pPr>
              <a:spcAft>
                <a:spcPts val="800"/>
              </a:spcAft>
              <a:defRPr sz="1350"/>
            </a:pPr>
            <a:r>
              <a:t>  - Định lý Max-Flow Min-Cut: Phát hiện điểm nghẽn tại Mentor M03 (Thực hành đồ án) và M01 (Lập trình cơ bản), khuyến nghị nhà trường ưu tiên bổ sung trợ giảng vào các phân môn này.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none">
            <a:spAutoFit/>
          </a:bodyPr>
          <a:lstStyle/>
          <a:p>
            <a:pPr>
              <a:defRPr sz="1100" b="1">
                <a:solidFill>
                  <a:srgbClr val="7F8C8D"/>
                </a:solidFill>
              </a:defRPr>
            </a:pPr>
            <a:r>
              <a:t>SMARTEDU AI - BÁO CÁO BẢO VỆ ĐỒ ÁN TOÁN HỌC CHO HỌC MÁY (ITA201)</a:t>
            </a:r>
          </a:p>
        </p:txBody>
      </p:sp>
      <p:sp>
        <p:nvSpPr>
          <p:cNvPr id="3" name="TextBox 2"/>
          <p:cNvSpPr txBox="1"/>
          <p:nvPr/>
        </p:nvSpPr>
        <p:spPr>
          <a:xfrm>
            <a:off x="731520" y="640080"/>
            <a:ext cx="10515600" cy="731520"/>
          </a:xfrm>
          <a:prstGeom prst="rect">
            <a:avLst/>
          </a:prstGeom>
          <a:noFill/>
        </p:spPr>
        <p:txBody>
          <a:bodyPr wrap="none">
            <a:spAutoFit/>
          </a:bodyPr>
          <a:lstStyle/>
          <a:p>
            <a:pPr>
              <a:defRPr sz="2400" b="1">
                <a:solidFill>
                  <a:srgbClr val="1B365D"/>
                </a:solidFill>
              </a:defRPr>
            </a:pPr>
            <a:r>
              <a:t>10. Tổng kết Đồ án SmartEdu AI &amp; Hướng Mở rộng</a:t>
            </a:r>
          </a:p>
        </p:txBody>
      </p:sp>
      <p:sp>
        <p:nvSpPr>
          <p:cNvPr id="4" name="TextBox 3"/>
          <p:cNvSpPr txBox="1"/>
          <p:nvPr/>
        </p:nvSpPr>
        <p:spPr>
          <a:xfrm>
            <a:off x="731520" y="1463040"/>
            <a:ext cx="10515600" cy="4572000"/>
          </a:xfrm>
          <a:prstGeom prst="rect">
            <a:avLst/>
          </a:prstGeom>
          <a:noFill/>
        </p:spPr>
        <p:txBody>
          <a:bodyPr wrap="square">
            <a:spAutoFit/>
          </a:bodyPr>
          <a:lstStyle/>
          <a:p/>
          <a:p>
            <a:pPr>
              <a:spcAft>
                <a:spcPts val="1000"/>
              </a:spcAft>
              <a:defRPr sz="1400"/>
            </a:pPr>
            <a:r>
              <a:t>Kết quả đạt được: Hoàn thành 100% tất cả các mục tiêu kỹ thuật và toán học của môn ITA201 qua 5 phân hệ A, B, C, D, E.</a:t>
            </a:r>
          </a:p>
          <a:p>
            <a:pPr>
              <a:spcAft>
                <a:spcPts val="1000"/>
              </a:spcAft>
              <a:defRPr sz="1400"/>
            </a:pPr>
            <a:r>
              <a:t>Tính minh bạch toán học: Mọi công thức (s = Xw, khoảng cách L1/L2, tổ hợp C(8, 3), tỷ lệ phương sai PCA, định lý Bayes, Entropy Shannon, Markov chuyển bước, hàm mục tiêu LP) đều được giải thích rõ nguồn gốc tham số, thay số tính tay và đối chiếu trùng khớp hoàn hảo với mã nguồn.</a:t>
            </a:r>
          </a:p>
          <a:p>
            <a:pPr>
              <a:spcAft>
                <a:spcPts val="1000"/>
              </a:spcAft>
              <a:defRPr sz="1400"/>
            </a:pPr>
            <a:r>
              <a:t>Giá trị thực tiễn: Đề xuất một giải pháp quản trị học tập thông minh hoàn chỉnh, sẵn sàng tích hợp với LMS của FPT Polytechnic.</a:t>
            </a:r>
          </a:p>
          <a:p>
            <a:pPr>
              <a:spcAft>
                <a:spcPts val="1000"/>
              </a:spcAft>
              <a:defRPr sz="1400"/>
            </a:pPr>
            <a:r>
              <a:t>Hướng phát triển tiếp theo:</a:t>
            </a:r>
          </a:p>
          <a:p>
            <a:pPr>
              <a:spcAft>
                <a:spcPts val="1000"/>
              </a:spcAft>
              <a:defRPr sz="1400"/>
            </a:pPr>
            <a:r>
              <a:t>  - Tích hợp hệ thống thông báo đẩy tự động qua Zalo OA / Email khi sinh viên chạm ngưỡng cảnh báo chuyên cần (attendance &lt;= 0.75).</a:t>
            </a:r>
          </a:p>
          <a:p>
            <a:pPr>
              <a:spcAft>
                <a:spcPts val="1000"/>
              </a:spcAft>
              <a:defRPr sz="1400"/>
            </a:pPr>
            <a:r>
              <a:t>  - Nghiên cứu mô hình học tăng cường (Reinforcement Learning) để tự động điều chỉnh lộ trình học tập cá nhân hóa.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32720" cy="3200400"/>
          </a:xfrm>
          <a:prstGeom prst="rect">
            <a:avLst/>
          </a:prstGeom>
          <a:noFill/>
        </p:spPr>
        <p:txBody>
          <a:bodyPr wrap="square">
            <a:spAutoFit/>
          </a:bodyPr>
          <a:lstStyle/>
          <a:p>
            <a:pPr algn="ctr">
              <a:defRPr sz="3000" b="1">
                <a:solidFill>
                  <a:srgbClr val="1B365D"/>
                </a:solidFill>
              </a:defRPr>
            </a:pPr>
            <a:r>
              <a:t>XIN TRÂN TRỌNG CẢM ƠN QUÝ THẦY CÔ</a:t>
            </a:r>
            <a:br/>
            <a:r>
              <a:t>VÀ HỘI ĐỒNG PHẢN BIỆN!</a:t>
            </a:r>
          </a:p>
          <a:p>
            <a:pPr algn="ctr">
              <a:spcBef>
                <a:spcPts val="2000"/>
              </a:spcBef>
              <a:defRPr sz="1600">
                <a:solidFill>
                  <a:srgbClr val="555555"/>
                </a:solidFill>
              </a:defRPr>
            </a:pPr>
            <a:r>
              <a:t>SMARTEDU AI — NHÓM THỰC HIỆN</a:t>
            </a:r>
            <a:br/>
            <a:r>
              <a:t>Trưởng nhóm: Nguyễn Thanh Hoài (PS47905)</a:t>
            </a:r>
            <a:br/>
            <a:r>
              <a:t>Nguyễn Duy Liêm (PS47845) | Nguyễn Minh Khôi (PS48256) | Vũ Quang Khải (PS48224)</a:t>
            </a:r>
            <a:br/>
            <a:br/>
            <a:r>
              <a:t>--- SẴN SÀNG TIẾP NHẬN CÂU HỎI &amp; GÓP Ý (Q&amp;A)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